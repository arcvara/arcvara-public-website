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3" autoAdjust="0"/>
    <p:restoredTop sz="93011" autoAdjust="0"/>
  </p:normalViewPr>
  <p:slideViewPr>
    <p:cSldViewPr snapToGrid="0" snapToObjects="1">
      <p:cViewPr varScale="1">
        <p:scale>
          <a:sx n="143" d="100"/>
          <a:sy n="143" d="100"/>
        </p:scale>
        <p:origin x="55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747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6858000" y="-457200"/>
            <a:ext cx="3657600" cy="3657600"/>
          </a:xfrm>
          <a:prstGeom prst="rect">
            <a:avLst/>
          </a:prstGeom>
          <a:solidFill>
            <a:srgbClr val="1E3A5F">
              <a:alpha val="25000"/>
            </a:srgbClr>
          </a:solidFill>
          <a:ln w="12700">
            <a:solidFill>
              <a:srgbClr val="1E3A5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900000">
            <a:off x="7772400" y="2286000"/>
            <a:ext cx="2743200" cy="2743200"/>
          </a:xfrm>
          <a:prstGeom prst="rect">
            <a:avLst/>
          </a:prstGeom>
          <a:solidFill>
            <a:srgbClr val="1A7FAD">
              <a:alpha val="15000"/>
            </a:srgbClr>
          </a:solidFill>
          <a:ln w="12700">
            <a:solidFill>
              <a:srgbClr val="1A7FA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ARCVARA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AI-Native Enterprise Architecture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029200" cy="36576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business strategy to physical network infrastructure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live, intelligent, 2.5D visual canvas.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Jawad Al Marhoon</a:t>
            </a: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Co-Founder &amp; CEO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CTO, CAMION  •  Former Digital Transformation Lead, BSF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jawad.a.almarhoon@gmail.com  |  +966-50-386-8474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Ibraheem Maher Almarhoon</a:t>
            </a: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Co-Founder &amp; Head of AI/Data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ibraheem.marhoon@gmail.com  |  +966557927246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1097280"/>
            <a:ext cx="1828800" cy="914400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 SAR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32320" y="1682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~$4M USD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is blind, fragmented, and always out of date.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743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67335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6276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Tools Stop at Apps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LeanIX, Ardoq, MEGA HOPEX cover application portfolios. Zero visibility into cloud topology, networking, API flows, or security posture.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6002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1600200"/>
            <a:ext cx="2743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67335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6276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Invisible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21945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diagrams live in Visio files last updated 18 months ago. Nobody knows the real state of ports, subnets, or firewall rules.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60020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72200" y="1600200"/>
            <a:ext cx="2743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67335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6276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Manual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9360" y="21945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CSF and NCA ECC-2:2024 audits require weeks of manual evidence gathering. No tool maps live infrastructure to regulatory controls automatically.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failed deployments, security breaches, compliance gaps, and weeks of manual effort — repeated every quarter.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Arcvara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another EA tool. It is the intelligent layer that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 tool you already have.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937760" cy="594360"/>
          </a:xfrm>
          <a:prstGeom prst="rect">
            <a:avLst/>
          </a:prstGeom>
          <a:solidFill>
            <a:srgbClr val="1A7FAD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Metadata Aggregation — Arcvara reads from your tools.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replaces them. Zero rip-and-replace.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1600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10789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16752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0" y="914400"/>
            <a:ext cx="1600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0789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54112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577840" y="1920240"/>
            <a:ext cx="1600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208483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16752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Cloud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7315200" y="1920240"/>
            <a:ext cx="1600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20848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54112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577840" y="2926080"/>
            <a:ext cx="1600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568" y="309067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16752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7315200" y="2926080"/>
            <a:ext cx="1600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928" y="309067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754112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5577840" y="3931920"/>
            <a:ext cx="1600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7568" y="409651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016752" y="4023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PAM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7315200" y="3931920"/>
            <a:ext cx="16002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4928" y="4096512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754112" y="4023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platform. Eight modules. One live data model.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AUTO-DISCOVERY: IMMEDIATE VALUE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 — Hours, Not Weeks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47472" cy="34747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cloud accounts, LDAP, network scanner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347472" cy="34747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2677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Arcvara discovers VPCs, K8s clusters, servers, ports, APIs, firewall rules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008376"/>
            <a:ext cx="347472" cy="34747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0175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2.5D architecture canvas appears — live, accurate, continuously updated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758184"/>
            <a:ext cx="347472" cy="34747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7673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takes architects weeks to document manually — done in minutes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16052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160520" cy="4572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932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Sequence Diagram + Failure Tracing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14813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sequence diagrams that link to real, live services.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API chain fails, Arcvara turns the broken hop 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instantly pinpointing which system failed without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triggering each service.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697480"/>
            <a:ext cx="658368" cy="292608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6974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58968" y="2843784"/>
            <a:ext cx="9144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50408" y="2697480"/>
            <a:ext cx="658368" cy="292608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50408" y="26974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08776" y="2843784"/>
            <a:ext cx="9144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00216" y="2697480"/>
            <a:ext cx="658368" cy="292608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0216" y="26974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958584" y="2843784"/>
            <a:ext cx="91440" cy="0"/>
          </a:xfrm>
          <a:prstGeom prst="line">
            <a:avLst/>
          </a:prstGeom>
          <a:noFill/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50024" y="2697480"/>
            <a:ext cx="658368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50024" y="26974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708392" y="2843784"/>
            <a:ext cx="9144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99832" y="2697480"/>
            <a:ext cx="658368" cy="292608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99832" y="26974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58968" y="3127248"/>
            <a:ext cx="91440" cy="0"/>
          </a:xfrm>
          <a:prstGeom prst="line">
            <a:avLst/>
          </a:prstGeom>
          <a:noFill/>
          <a:ln w="1905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08776" y="3328416"/>
            <a:ext cx="91440" cy="0"/>
          </a:xfrm>
          <a:prstGeom prst="line">
            <a:avLst/>
          </a:prstGeom>
          <a:noFill/>
          <a:ln w="1905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958584" y="3529584"/>
            <a:ext cx="9144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903720" y="3474720"/>
            <a:ext cx="868680" cy="256032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03720" y="3474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0060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tool does this — because no other tool knows the full topology.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MARKET URGENCY — 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forces are creating a once-in-a-decade window — globally, with the GCC leading the urgency: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25880" y="160020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Vision 2030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926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Unprecedented technology investment mandated across banking, government, logistics, and energy. Enterprise infrastructure is scaling faster than anyone can document it.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463040"/>
            <a:ext cx="27432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E74C3C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51960" y="1600200"/>
            <a:ext cx="731520" cy="7315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 ECC-2:2024 &amp; SAMA CSF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280" y="2926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CIOs are scrambling to comply with updated NCA ECC-2:2024 controls. No existing EA platform automates this — Arcvara does, natively, from live data.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72200" y="1463040"/>
            <a:ext cx="27432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78040" y="1600200"/>
            <a:ext cx="731520" cy="7315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37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Multi-Cloud Explosion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09360" y="2926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OCI, Azure, GCP, and on-prem running simultaneously. The complexity is overwhelming existing tools. Saudi ministries are the fastest OCI adopters globally — and no EA tool understands OCI deeply.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AI-native EA platform exists at scale globally. Arcvara enters a structurally vacant position.</a:t>
            </a:r>
            <a:endParaRPr lang="en-US" sz="1100" dirty="0"/>
          </a:p>
        </p:txBody>
      </p:sp>
      <p:pic>
        <p:nvPicPr>
          <p:cNvPr id="22" name="Image 0">
            <a:extLst>
              <a:ext uri="{FF2B5EF4-FFF2-40B4-BE49-F238E27FC236}">
                <a16:creationId xmlns:a16="http://schemas.microsoft.com/office/drawing/2014/main" id="{AD73376F-B55B-AC62-ABCB-CD8AB41FA1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63040" y="17373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MARKET SIZE — GLOBAL TAM / GCC ENTRY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$1.83B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EA tools market by 2029 · 7.8% CAGR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Arcvara's TAM is the EA tools market — anchored in what it directly displaces, not an inflated multi-category claim.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Entry Beachhead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2.6–4.5M SAR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(~$700K–$1.2M USD) · Year 3 ARR · 10% of 30M SAR beachhead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 tier-1/tier-2 targets in KSA &amp; UAE · avg. ACV 450K SAR (~$120K USD) · 2–3 contracts/yr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4320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SAMA-regulated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in KSA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50592" y="30175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50592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450592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NCA-mandated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entities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30175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26864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626864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telcos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firms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03136" y="301752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03136" y="3154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450K SAR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03136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(~$120K USD)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THE MOAT — COMPETITION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stops halfway. Arcvara goes all the way.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19456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1389888"/>
            <a:ext cx="914400" cy="347472"/>
          </a:xfrm>
          <a:prstGeom prst="rect">
            <a:avLst/>
          </a:prstGeom>
          <a:solidFill>
            <a:srgbClr val="00C2CB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1389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Arcvara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389888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389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1389888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3400" y="1389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Ardoq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57800" y="1389888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57800" y="1389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389888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389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86600" y="1389888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86600" y="1389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737360"/>
            <a:ext cx="219456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1737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14600" y="1737360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14600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29000" y="1737360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1737360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43400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57800" y="1737360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57800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1737360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86600" y="1737360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86600" y="1737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2084832"/>
            <a:ext cx="219456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040" y="2084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14600" y="2084832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1460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429000" y="2084832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2900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343400" y="2084832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34340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257800" y="2084832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5780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72200" y="2084832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7220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086600" y="2084832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08660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0040" y="2432304"/>
            <a:ext cx="219456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040" y="24323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Cloud Services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14600" y="2432304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514600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429000" y="2432304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29000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343400" y="2432304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343400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257800" y="2432304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257800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172200" y="2432304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172200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086600" y="2432304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86600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20040" y="2779776"/>
            <a:ext cx="219456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20040" y="27797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Networking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514600" y="2779776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514600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429000" y="2779776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429000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343400" y="2779776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343400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257800" y="2779776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257800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172200" y="2779776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172200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086600" y="2779776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086600" y="27797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320040" y="3127248"/>
            <a:ext cx="219456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20040" y="3127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Flow &amp; Tracing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514600" y="3127248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51460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429000" y="3127248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42900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343400" y="3127248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34340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5257800" y="3127248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25780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172200" y="3127248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17220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086600" y="3127248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08660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20040" y="3474720"/>
            <a:ext cx="219456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320040" y="3474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 ECC-2:2024 / SAMA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514600" y="3474720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514600" y="3474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429000" y="3474720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3429000" y="3474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4343400" y="3474720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343400" y="3474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5257800" y="3474720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257800" y="3474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172200" y="3474720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172200" y="3474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7086600" y="3474720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086600" y="3474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20040" y="3822192"/>
            <a:ext cx="219456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20040" y="38221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514600" y="3822192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2514600" y="3822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3429000" y="3822192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429000" y="3822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4343400" y="3822192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343400" y="3822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5257800" y="3822192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257800" y="3822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6172200" y="3822192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172200" y="3822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7086600" y="3822192"/>
            <a:ext cx="9144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086600" y="3822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320040" y="4169664"/>
            <a:ext cx="219456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320040" y="41696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2514600" y="4169664"/>
            <a:ext cx="914400" cy="347472"/>
          </a:xfrm>
          <a:prstGeom prst="rect">
            <a:avLst/>
          </a:prstGeom>
          <a:solidFill>
            <a:srgbClr val="0E5C7E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2514600" y="41696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3429000" y="4169664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3429000" y="41696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4343400" y="4169664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4343400" y="41696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5257800" y="4169664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5257800" y="41696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6172200" y="4169664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6172200" y="41696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7086600" y="4169664"/>
            <a:ext cx="914400" cy="347472"/>
          </a:xfrm>
          <a:prstGeom prst="rect">
            <a:avLst/>
          </a:prstGeom>
          <a:solidFill>
            <a:srgbClr val="132540"/>
          </a:solidFill>
          <a:ln w="635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7086600" y="41696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31" name="Text 12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Arcvara is the only platform with full-stack coverage — business strategy to physical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GO-TO-MARKET — THE SI LOOP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Enterprise Sales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44475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relationships at BSF, CAMION, and government programmes bypass cold procurement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214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103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SAMA/NCA compliance urgency message creates immediate CTO budget justification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7977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7614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paid pilot with Pre-Negotiated Convert Clause auto-triggers conversion to a multi-year Enterprise Tier contract upon milestone achievement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381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341985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 anchor pilots in Year 1 · KSA banks, logistics, gov entities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663440" y="914400"/>
            <a:ext cx="4160520" cy="3931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4663440" y="914400"/>
            <a:ext cx="416052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4754880" y="932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 Trojan Horse Strategy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800600" y="1444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and regional SIs currently spend 4–6 weeks on manual client discovery. Arcvara compresses it to 48 hours.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800600" y="2148840"/>
            <a:ext cx="1737360" cy="658368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800600" y="21488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uses Arcvara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client assessment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675120" y="2148840"/>
            <a:ext cx="1737360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675120" y="21488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sees their live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on day 1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800600" y="3291840"/>
            <a:ext cx="1737360" cy="65836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800600" y="32918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retains Arcvara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enterprise contract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675120" y="3291840"/>
            <a:ext cx="173736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675120" y="32918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earns referral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+ expands usage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537960" y="2478024"/>
            <a:ext cx="137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5669280" y="2807208"/>
            <a:ext cx="0" cy="4846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543800" y="2807208"/>
            <a:ext cx="0" cy="4846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537960" y="3621024"/>
            <a:ext cx="137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800600" y="4160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Partner-Tier flat license → every SI engagement becomes a qualified Arcvara lead.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E5C7E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45720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Pipeline: Co-founder relationships provide warm intro access to 8+ target enterprises across KSA banking, logistics, and government programmes. International market development begins Year 2.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PRODUCT ROADMAP — 36 MONTHS  ·  Status: Pre-development. Seed funding builds Phase 1.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4592" y="914400"/>
            <a:ext cx="1664208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1664208" cy="502920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9456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9264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1–6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" y="1152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&amp; MVP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572768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8912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2.5D WebGL canvas engine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206654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" y="204825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metadata ingestion (AWS/GCP/Azure/OCI/OpenShift)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25603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8912" y="254203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module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305409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8912" y="30358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discovery agent</a:t>
            </a:r>
            <a:endParaRPr lang="en-US" sz="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3547872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8912" y="3529584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sovereign cloud deployment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1938528" y="914400"/>
            <a:ext cx="1664208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1938528" y="914400"/>
            <a:ext cx="1664208" cy="5029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1993392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2743200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7–12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993392" y="1152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Security Intelligence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1572768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12848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flow &amp; distributed tracing</a:t>
            </a:r>
            <a:endParaRPr lang="en-US" sz="8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2066544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212848" y="204825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module</a:t>
            </a:r>
            <a:endParaRPr lang="en-US" sz="8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2560320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212848" y="254203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 ECC-2:2024 &amp; SAMA CSF</a:t>
            </a:r>
            <a:endParaRPr lang="en-US" sz="8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3054096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212848" y="30358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platform integrations</a:t>
            </a:r>
            <a:endParaRPr lang="en-US" sz="8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3547872"/>
            <a:ext cx="182880" cy="182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212848" y="3529584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v1 · SI partner licensing</a:t>
            </a:r>
            <a:endParaRPr lang="en-US" sz="850" dirty="0"/>
          </a:p>
        </p:txBody>
      </p:sp>
      <p:sp>
        <p:nvSpPr>
          <p:cNvPr id="34" name="Shape 22"/>
          <p:cNvSpPr/>
          <p:nvPr/>
        </p:nvSpPr>
        <p:spPr>
          <a:xfrm>
            <a:off x="3712464" y="914400"/>
            <a:ext cx="1664208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894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3"/>
          <p:cNvSpPr/>
          <p:nvPr/>
        </p:nvSpPr>
        <p:spPr>
          <a:xfrm>
            <a:off x="3712464" y="914400"/>
            <a:ext cx="1664208" cy="5029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4"/>
          <p:cNvSpPr/>
          <p:nvPr/>
        </p:nvSpPr>
        <p:spPr>
          <a:xfrm>
            <a:off x="3767328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4517136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13–18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3767328" y="1152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85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572768"/>
            <a:ext cx="182880" cy="18288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3986784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Solution Architecture</a:t>
            </a:r>
            <a:endParaRPr lang="en-US" sz="85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2066544"/>
            <a:ext cx="182880" cy="18288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3986784" y="204825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&amp; C4 support</a:t>
            </a:r>
            <a:endParaRPr lang="en-US" sz="85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2560320"/>
            <a:ext cx="182880" cy="18288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3986784" y="254203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delivery 1: SAP, Oracle, ServiceNow</a:t>
            </a:r>
            <a:endParaRPr lang="en-US" sz="85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3054096"/>
            <a:ext cx="182880" cy="182880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986784" y="30358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library</a:t>
            </a:r>
            <a:endParaRPr lang="en-US" sz="85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3547872"/>
            <a:ext cx="182880" cy="182880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3986784" y="3529584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on-prem installer</a:t>
            </a:r>
            <a:endParaRPr lang="en-US" sz="850" dirty="0"/>
          </a:p>
        </p:txBody>
      </p:sp>
      <p:sp>
        <p:nvSpPr>
          <p:cNvPr id="49" name="Shape 32"/>
          <p:cNvSpPr/>
          <p:nvPr/>
        </p:nvSpPr>
        <p:spPr>
          <a:xfrm>
            <a:off x="5486400" y="914400"/>
            <a:ext cx="1664208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33"/>
          <p:cNvSpPr/>
          <p:nvPr/>
        </p:nvSpPr>
        <p:spPr>
          <a:xfrm>
            <a:off x="5486400" y="914400"/>
            <a:ext cx="16642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4"/>
          <p:cNvSpPr/>
          <p:nvPr/>
        </p:nvSpPr>
        <p:spPr>
          <a:xfrm>
            <a:off x="5541264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52" name="Text 35"/>
          <p:cNvSpPr/>
          <p:nvPr/>
        </p:nvSpPr>
        <p:spPr>
          <a:xfrm>
            <a:off x="6291072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19–24</a:t>
            </a:r>
            <a:endParaRPr lang="en-US" sz="900" dirty="0"/>
          </a:p>
        </p:txBody>
      </p:sp>
      <p:sp>
        <p:nvSpPr>
          <p:cNvPr id="53" name="Text 36"/>
          <p:cNvSpPr/>
          <p:nvPr/>
        </p:nvSpPr>
        <p:spPr>
          <a:xfrm>
            <a:off x="5541264" y="1152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Expansion</a:t>
            </a:r>
            <a:endParaRPr lang="en-US" sz="85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1572768"/>
            <a:ext cx="182880" cy="182880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5760720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marketplace &amp; SDK</a:t>
            </a:r>
            <a:endParaRPr lang="en-US" sz="850" dirty="0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2066544"/>
            <a:ext cx="182880" cy="182880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5760720" y="204825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delivery 2: Dynamics 365, MuleSoft, Maximo</a:t>
            </a:r>
            <a:endParaRPr lang="en-US" sz="85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2560320"/>
            <a:ext cx="182880" cy="182880"/>
          </a:xfrm>
          <a:prstGeom prst="rect">
            <a:avLst/>
          </a:prstGeom>
        </p:spPr>
      </p:pic>
      <p:sp>
        <p:nvSpPr>
          <p:cNvPr id="59" name="Text 39"/>
          <p:cNvSpPr/>
          <p:nvPr/>
        </p:nvSpPr>
        <p:spPr>
          <a:xfrm>
            <a:off x="5760720" y="254203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fine-tuning</a:t>
            </a:r>
            <a:endParaRPr lang="en-US" sz="850" dirty="0"/>
          </a:p>
        </p:txBody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3054096"/>
            <a:ext cx="182880" cy="182880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5760720" y="30358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 &amp; RBAC</a:t>
            </a:r>
            <a:endParaRPr lang="en-US" sz="850" dirty="0"/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3547872"/>
            <a:ext cx="182880" cy="182880"/>
          </a:xfrm>
          <a:prstGeom prst="rect">
            <a:avLst/>
          </a:prstGeom>
        </p:spPr>
      </p:pic>
      <p:sp>
        <p:nvSpPr>
          <p:cNvPr id="63" name="Text 41"/>
          <p:cNvSpPr/>
          <p:nvPr/>
        </p:nvSpPr>
        <p:spPr>
          <a:xfrm>
            <a:off x="5760720" y="3529584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&amp; MENA expansion</a:t>
            </a:r>
            <a:endParaRPr lang="en-US" sz="850" dirty="0"/>
          </a:p>
        </p:txBody>
      </p:sp>
      <p:sp>
        <p:nvSpPr>
          <p:cNvPr id="64" name="Shape 42"/>
          <p:cNvSpPr/>
          <p:nvPr/>
        </p:nvSpPr>
        <p:spPr>
          <a:xfrm>
            <a:off x="7260336" y="914400"/>
            <a:ext cx="1664208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8B5CF6">
                <a:alpha val="7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43"/>
          <p:cNvSpPr/>
          <p:nvPr/>
        </p:nvSpPr>
        <p:spPr>
          <a:xfrm>
            <a:off x="7260336" y="914400"/>
            <a:ext cx="166420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44"/>
          <p:cNvSpPr/>
          <p:nvPr/>
        </p:nvSpPr>
        <p:spPr>
          <a:xfrm>
            <a:off x="7315200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67" name="Text 45"/>
          <p:cNvSpPr/>
          <p:nvPr/>
        </p:nvSpPr>
        <p:spPr>
          <a:xfrm>
            <a:off x="8065008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25–36</a:t>
            </a:r>
            <a:endParaRPr lang="en-US" sz="900" dirty="0"/>
          </a:p>
        </p:txBody>
      </p:sp>
      <p:sp>
        <p:nvSpPr>
          <p:cNvPr id="68" name="Text 46"/>
          <p:cNvSpPr/>
          <p:nvPr/>
        </p:nvSpPr>
        <p:spPr>
          <a:xfrm>
            <a:off x="7315200" y="1152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</a:t>
            </a:r>
            <a:endParaRPr lang="en-US" sz="850" dirty="0"/>
          </a:p>
        </p:txBody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72768"/>
            <a:ext cx="182880" cy="182880"/>
          </a:xfrm>
          <a:prstGeom prst="rect">
            <a:avLst/>
          </a:prstGeom>
        </p:spPr>
      </p:pic>
      <p:sp>
        <p:nvSpPr>
          <p:cNvPr id="70" name="Text 47"/>
          <p:cNvSpPr/>
          <p:nvPr/>
        </p:nvSpPr>
        <p:spPr>
          <a:xfrm>
            <a:off x="7534656" y="155448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delivery 3: PeopleSoft, Infor, extended connectors</a:t>
            </a:r>
            <a:endParaRPr lang="en-US" sz="850" dirty="0"/>
          </a:p>
        </p:txBody>
      </p:sp>
      <p:pic>
        <p:nvPicPr>
          <p:cNvPr id="71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66544"/>
            <a:ext cx="182880" cy="182880"/>
          </a:xfrm>
          <a:prstGeom prst="rect">
            <a:avLst/>
          </a:prstGeom>
        </p:spPr>
      </p:pic>
      <p:sp>
        <p:nvSpPr>
          <p:cNvPr id="72" name="Text 48"/>
          <p:cNvSpPr/>
          <p:nvPr/>
        </p:nvSpPr>
        <p:spPr>
          <a:xfrm>
            <a:off x="7534656" y="204825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entry</a:t>
            </a:r>
            <a:endParaRPr lang="en-US" sz="850" dirty="0"/>
          </a:p>
        </p:txBody>
      </p:sp>
      <p:pic>
        <p:nvPicPr>
          <p:cNvPr id="73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560320"/>
            <a:ext cx="182880" cy="182880"/>
          </a:xfrm>
          <a:prstGeom prst="rect">
            <a:avLst/>
          </a:prstGeom>
        </p:spPr>
      </p:pic>
      <p:sp>
        <p:nvSpPr>
          <p:cNvPr id="74" name="Text 49"/>
          <p:cNvSpPr/>
          <p:nvPr/>
        </p:nvSpPr>
        <p:spPr>
          <a:xfrm>
            <a:off x="7534656" y="254203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raise</a:t>
            </a:r>
            <a:endParaRPr lang="en-US" sz="850" dirty="0"/>
          </a:p>
        </p:txBody>
      </p:sp>
      <p:pic>
        <p:nvPicPr>
          <p:cNvPr id="75" name="Image 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054096"/>
            <a:ext cx="182880" cy="182880"/>
          </a:xfrm>
          <a:prstGeom prst="rect">
            <a:avLst/>
          </a:prstGeom>
        </p:spPr>
      </p:pic>
      <p:sp>
        <p:nvSpPr>
          <p:cNvPr id="76" name="Text 50"/>
          <p:cNvSpPr/>
          <p:nvPr/>
        </p:nvSpPr>
        <p:spPr>
          <a:xfrm>
            <a:off x="7534656" y="303580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maturity</a:t>
            </a:r>
            <a:endParaRPr lang="en-US" sz="850" dirty="0"/>
          </a:p>
        </p:txBody>
      </p:sp>
      <p:pic>
        <p:nvPicPr>
          <p:cNvPr id="77" name="Image 2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47872"/>
            <a:ext cx="182880" cy="182880"/>
          </a:xfrm>
          <a:prstGeom prst="rect">
            <a:avLst/>
          </a:prstGeom>
        </p:spPr>
      </p:pic>
      <p:sp>
        <p:nvSpPr>
          <p:cNvPr id="78" name="Text 51"/>
          <p:cNvSpPr/>
          <p:nvPr/>
        </p:nvSpPr>
        <p:spPr>
          <a:xfrm>
            <a:off x="7534656" y="3529584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domain fine-tuning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FOUNDER — PRODUCT FIT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Jawad Al Marhoon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  ·  Acting CTO, CAMION  ·  Former Digital Transformation Lead, BSF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TOGAF®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75688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75688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85616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85616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95544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95544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Certified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05472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05472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Cloud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in Arcvara maps to a real pain he personally solved: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8595360" cy="39319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788920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cloud architecture blueprint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(CAMION — network, IAM, WAF, DR)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Infrastructure &amp; Cloud module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gov S2S VPN &amp; API gateway integrations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(HLD &amp; integration specs)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21868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API tracing &amp; integration module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648456"/>
            <a:ext cx="8595360" cy="39319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648456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SAR ($26.7M) BSF Omnichannel Program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internal systems, 3 APIs)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64845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Solution Architecture canvas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078224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078224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SAMA/NCA compliance gaps closed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quarter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07822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NCA ECC-2:2024 &amp; SAMA compliance module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507992"/>
            <a:ext cx="8595360" cy="39319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507992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CI/CD deployment automation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(Jenkins, GitLab, ArgoCD, K8s)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450799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DevOps &amp; environment module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Arcvara feature maps directly to a pain he has personally solved.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CO-FOUNDER — AI/DATA FIT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Ibraheem Maher Almarhoon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Head of AI/Data  ·  Data Scientist, Saudi Aramco  ·  MSc Artificial Intelligence, KFUPM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75688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75688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85616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85616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Aramco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95544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95544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Expert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05472" y="1783080"/>
            <a:ext cx="160020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05472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capability in Arcvara maps to real industrial experience: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8595360" cy="39319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788920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&amp; anomaly detection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(Saudi Aramco &amp; Halliburton — industrial scale)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AI Intelligence Layer — anomaly detection &amp; prediction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assurance &amp; dashboard visualisation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(Halliburton DecisionSpace Geosciences)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218688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AI scoring &amp; compliance prediction engine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648456"/>
            <a:ext cx="8595360" cy="39319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648456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 &amp; system architecture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(Reservoir Technologies ResTec — legacy modernisation)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648456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platform engineering &amp; integration layer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078224"/>
            <a:ext cx="8595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078224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&amp; data science bootcamp delivery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(Halliburton — communicating AI to technical audiences)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078224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enterprise adoption &amp; technical credibility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507992"/>
            <a:ext cx="8595360" cy="393192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507992"/>
            <a:ext cx="4389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across energy, technology consulting &amp; engineering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(Aramco, Halliburton, Wipro, ResTec)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450799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Arcvara's cross-industry AI intelligence credibility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applied AI at industrial scale — the foundation of Arcvara’s intelligence layer.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THE TEAM WE ARE BUILDING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in Year 1. Team scales with roadmap and revenue.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658368"/>
          </a:xfrm>
          <a:prstGeom prst="rect">
            <a:avLst/>
          </a:prstGeom>
          <a:solidFill>
            <a:srgbClr val="1A7FAD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Jawad Al Marhoon  ·  Co-Founder &amp; CEO  |  Ibraheem Almarhoon  ·  Co-Founder &amp; Head of AI/Data  ·  Full-time at 500K SAR ARR or Month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TOGAF® · PMP® · GCP Architect · OCI Architect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2743200" cy="54864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49808" y="230428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" y="268833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Frontend · DevOps/Infra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301752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8 as platform scales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72968" y="2212848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172968" y="2212848"/>
            <a:ext cx="2743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648456" y="230428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82696" y="268833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· 2.5D Canvas · All modules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282696" y="301752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full-time from Day 1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71616" y="2212848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89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071616" y="2212848"/>
            <a:ext cx="2743200" cy="5486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547104" y="230428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181344" y="268833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Automation-first · Enterprise-grade quality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181344" y="301752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full-time from Day 1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274320" y="3538728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274320" y="3538728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49808" y="36301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Engineers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384048" y="401421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pipeline · Domain delivery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384048" y="4343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dedicated full-time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172968" y="3538728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5C7E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3172968" y="3538728"/>
            <a:ext cx="2743200" cy="54864"/>
          </a:xfrm>
          <a:prstGeom prst="rect">
            <a:avLst/>
          </a:prstGeom>
          <a:solidFill>
            <a:srgbClr val="0E5C7E"/>
          </a:solidFill>
          <a:ln w="12700">
            <a:solidFill>
              <a:srgbClr val="0E5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3648456" y="36301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Specialists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3282696" y="401421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Network · Security · ERP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3282696" y="4343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per integration domain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071616" y="3538728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8FA3B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6071616" y="3538728"/>
            <a:ext cx="2743200" cy="54864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6547104" y="36301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6181344" y="401421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· SI partnerships · MENA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181344" y="4343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Y1 · Dedicated hire Y2</a:t>
            </a:r>
            <a:endParaRPr lang="en-US" sz="900" dirty="0"/>
          </a:p>
        </p:txBody>
      </p:sp>
      <p:pic>
        <p:nvPicPr>
          <p:cNvPr id="46" name="Image 0" descr="preencoded.png">
            <a:extLst>
              <a:ext uri="{FF2B5EF4-FFF2-40B4-BE49-F238E27FC236}">
                <a16:creationId xmlns:a16="http://schemas.microsoft.com/office/drawing/2014/main" id="{0A7FA510-8967-A53C-6078-409A8CB39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50008"/>
            <a:ext cx="292608" cy="292608"/>
          </a:xfrm>
          <a:prstGeom prst="rect">
            <a:avLst/>
          </a:prstGeom>
        </p:spPr>
      </p:pic>
      <p:pic>
        <p:nvPicPr>
          <p:cNvPr id="48" name="Image 1" descr="preencoded.png">
            <a:extLst>
              <a:ext uri="{FF2B5EF4-FFF2-40B4-BE49-F238E27FC236}">
                <a16:creationId xmlns:a16="http://schemas.microsoft.com/office/drawing/2014/main" id="{72E8DFE5-20ED-77A6-A233-5A8CC930F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2350008"/>
            <a:ext cx="292608" cy="292608"/>
          </a:xfrm>
          <a:prstGeom prst="rect">
            <a:avLst/>
          </a:prstGeom>
        </p:spPr>
      </p:pic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E6853E16-F826-72C9-C6CF-4A284E1B1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350008"/>
            <a:ext cx="292608" cy="292608"/>
          </a:xfrm>
          <a:prstGeom prst="rect">
            <a:avLst/>
          </a:prstGeom>
        </p:spPr>
      </p:pic>
      <p:pic>
        <p:nvPicPr>
          <p:cNvPr id="52" name="Image 3" descr="preencoded.png">
            <a:extLst>
              <a:ext uri="{FF2B5EF4-FFF2-40B4-BE49-F238E27FC236}">
                <a16:creationId xmlns:a16="http://schemas.microsoft.com/office/drawing/2014/main" id="{5CB25D02-BC7F-4B47-462D-BA34ABF35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675888"/>
            <a:ext cx="292608" cy="292608"/>
          </a:xfrm>
          <a:prstGeom prst="rect">
            <a:avLst/>
          </a:prstGeom>
        </p:spPr>
      </p:pic>
      <p:pic>
        <p:nvPicPr>
          <p:cNvPr id="54" name="Image 4" descr="preencoded.png">
            <a:extLst>
              <a:ext uri="{FF2B5EF4-FFF2-40B4-BE49-F238E27FC236}">
                <a16:creationId xmlns:a16="http://schemas.microsoft.com/office/drawing/2014/main" id="{B67588AA-0D3E-3482-7046-D1D17C021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3675888"/>
            <a:ext cx="292608" cy="292608"/>
          </a:xfrm>
          <a:prstGeom prst="rect">
            <a:avLst/>
          </a:prstGeom>
        </p:spPr>
      </p:pic>
      <p:pic>
        <p:nvPicPr>
          <p:cNvPr id="56" name="Image 5" descr="preencoded.png">
            <a:extLst>
              <a:ext uri="{FF2B5EF4-FFF2-40B4-BE49-F238E27FC236}">
                <a16:creationId xmlns:a16="http://schemas.microsoft.com/office/drawing/2014/main" id="{91C55D11-4CC7-E8D0-3FA0-17AEC59479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3675888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THE ASK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45920" y="914400"/>
            <a:ext cx="5852160" cy="1188720"/>
          </a:xfrm>
          <a:prstGeom prst="rect">
            <a:avLst/>
          </a:prstGeom>
          <a:solidFill>
            <a:srgbClr val="1A7FAD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0" y="960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15M SAR (~$4M USD)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4813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Runway · Series A Trigger M30–36 · Breakeven Post-Series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2011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2011680" cy="54864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" y="27432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+ 2 R&amp;D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GOSI, HRDF incl.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50592" y="2286000"/>
            <a:ext cx="2011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2286000"/>
            <a:ext cx="20116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23744" y="27432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Domain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23744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experts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tech domain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26864" y="2286000"/>
            <a:ext cx="2011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89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2286000"/>
            <a:ext cx="2011680" cy="5486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26864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0016" y="27432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00016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engine,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pipeline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803136" y="2286000"/>
            <a:ext cx="2011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5C7E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3136" y="2286000"/>
            <a:ext cx="2011680" cy="54864"/>
          </a:xfrm>
          <a:prstGeom prst="rect">
            <a:avLst/>
          </a:prstGeom>
          <a:solidFill>
            <a:srgbClr val="0E5C7E"/>
          </a:solidFill>
          <a:ln w="12700">
            <a:solidFill>
              <a:srgbClr val="0E5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03136" y="2359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76288" y="27432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76288" y="30906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OCI, Azure,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regions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3611880"/>
            <a:ext cx="2011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2011680" cy="54864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6850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7472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416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Office, hardware,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devices, setup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50592" y="3611880"/>
            <a:ext cx="2011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450592" y="3611880"/>
            <a:ext cx="20116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50592" y="36850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523744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BizOps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23744" y="4416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pilots,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26864" y="3611880"/>
            <a:ext cx="2011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89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26864" y="3611880"/>
            <a:ext cx="2011680" cy="5486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26864" y="36850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700016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Compliance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00016" y="4416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CR, Zakat, HRSD,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trademark, legal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803136" y="3611880"/>
            <a:ext cx="2011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8FA3B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803136" y="3611880"/>
            <a:ext cx="2011680" cy="54864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03136" y="36850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876288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Reserve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76288" y="44165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UNIT ECONOMICS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Capital-efficient by design — the SI loop compresses CAC by 40–50%.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75K SAR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~$20K USD per enterprise customer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1417320"/>
            <a:ext cx="201168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50592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450K SAR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42032" y="2331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~$120K USD Year 1 contract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1417320"/>
            <a:ext cx="201168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26864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LTV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1.5–1.8M SAR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18304" y="2331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~$400–480K USD per customer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3136" y="1417320"/>
            <a:ext cx="2011680" cy="1737360"/>
          </a:xfrm>
          <a:prstGeom prst="rect">
            <a:avLst/>
          </a:prstGeom>
          <a:solidFill>
            <a:srgbClr val="0D1F3C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03136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03136" y="17373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: 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94576" y="2331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3:1 minimum healthy threshold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291840"/>
            <a:ext cx="8595360" cy="15087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7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 — Under 12 Months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75K SAR CAC and 450K SAR ACV, Arcvara recovers acquisition cost within the first contract year. The 90-day paid pilot with Pre-Negotiated Convert Clause generates revenue during evaluation — further accelerating payback and eliminating pilot conversion risk.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07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20:1 LTV:CAC based on mature SI channel economics (75K SAR CAC). Conservative scenario: 200K SAR fully-loaded CAC = 8:1 LTV:CAC — still well above the 3:1 enterprise SaaS benchmark. Both scenarios are commercially viable; conservative used for internal planning.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540"/>
          </a:solidFill>
          <a:ln w="12700">
            <a:solidFill>
              <a:srgbClr val="13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FINANCIAL PROJECTIONS — 36 MONTHS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3-year revenue build · 2–3 new enterprise customers/year · 450K SAR avg ACV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3474720"/>
            <a:ext cx="1645920" cy="1097280"/>
          </a:xfrm>
          <a:prstGeom prst="rect">
            <a:avLst/>
          </a:prstGeom>
          <a:solidFill>
            <a:srgbClr val="1A7FAD">
              <a:alpha val="85000"/>
            </a:srgbClr>
          </a:solidFill>
          <a:ln w="12700">
            <a:solidFill>
              <a:srgbClr val="1A7F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1.05M SAR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~$280K USD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4617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· 2 total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0" y="2560320"/>
            <a:ext cx="1645920" cy="2011680"/>
          </a:xfrm>
          <a:prstGeom prst="rect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1.92M SAR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~$512K USD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4617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· 5 total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52160" y="1371600"/>
            <a:ext cx="1645920" cy="3200400"/>
          </a:xfrm>
          <a:prstGeom prst="rect">
            <a:avLst/>
          </a:prstGeom>
          <a:solidFill>
            <a:srgbClr val="00B894">
              <a:alpha val="85000"/>
            </a:srgbClr>
          </a:solidFill>
          <a:ln w="1270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3.11M SAR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~$829K USD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4617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· 9 total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325880"/>
            <a:ext cx="19202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4–6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pilot revenue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2130552"/>
            <a:ext cx="19202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0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7–9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enterprise conversion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2935224"/>
            <a:ext cx="19202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49440" y="2980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48–54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post-Series 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3739896"/>
            <a:ext cx="19202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A7FA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9440" y="3785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30–36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trigger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RISK ANALYSIS &amp; MITIGATIONS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is acknowledged, mapped, and mitigated by design.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FAD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38912" cy="804672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1435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16824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schema changes break discovery layer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444752"/>
            <a:ext cx="0" cy="658368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1435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3484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Graph Schema abstracts all connectors — upstream changes isolated from core platform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3891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28600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23500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" y="25968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 sales cycles drain runway before first revenue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2359152"/>
            <a:ext cx="0" cy="658368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34840" y="23500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560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relationships + 90-day paid pilots with Convert Clause + SI parallel pipeline bypass cold procurement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438912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20040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" y="32644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" y="35112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LeanIX or Ardoq adds networking module to close the gap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3273552"/>
            <a:ext cx="0" cy="658368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34840" y="32644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3474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SAMA/NCA/GDPR compliance intelligence + OCI-first architecture + global R&amp;D pipeline cannot be replicated quickly by incumbents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89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4114800"/>
            <a:ext cx="438912" cy="80467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114800"/>
            <a:ext cx="438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" y="4178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" y="44256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GCC enterprises reject SaaS infrastructure mapping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97680" y="4187952"/>
            <a:ext cx="0" cy="658368"/>
          </a:xfrm>
          <a:prstGeom prst="line">
            <a:avLst/>
          </a:prstGeom>
          <a:noFill/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34840" y="41788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5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34840" y="4389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on-premises and sovereign cloud deployment — metadata never leaves customer boundary by design</a:t>
            </a:r>
            <a:endParaRPr lang="en-US" sz="900" dirty="0"/>
          </a:p>
        </p:txBody>
      </p:sp>
      <p:sp>
        <p:nvSpPr>
          <p:cNvPr id="40" name="Shape R6bg"/>
          <p:cNvSpPr/>
          <p:nvPr/>
        </p:nvSpPr>
        <p:spPr>
          <a:xfrm>
            <a:off x="274320" y="4990000"/>
            <a:ext cx="8838960" cy="720000"/>
          </a:xfrm>
          <a:prstGeom prst="rect">
            <a:avLst/>
          </a:prstGeom>
          <a:solidFill>
            <a:srgbClr val="F0F7FA"/>
          </a:solidFill>
          <a:ln w="6350">
            <a:solidFill>
              <a:srgbClr val="D0DCE8"/>
            </a:solidFill>
          </a:ln>
        </p:spPr>
        <p:txBody>
          <a:bodyPr wrap="square" lIns="0" tIns="0" rIns="0" bIns="0" rtlCol="0" anchor="ctr"/>
          <a:lstStyle/>
          <a:p>
            <a:endParaRPr lang="en-US" sz="900" dirty="0"/>
          </a:p>
        </p:txBody>
      </p:sp>
      <p:sp>
        <p:nvSpPr>
          <p:cNvPr id="41" name="Shape R6id"/>
          <p:cNvSpPr/>
          <p:nvPr/>
        </p:nvSpPr>
        <p:spPr>
          <a:xfrm>
            <a:off x="274320" y="4990000"/>
            <a:ext cx="438912" cy="720000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R6</a:t>
            </a:r>
            <a:endParaRPr lang="en-US" sz="1000" dirty="0"/>
          </a:p>
        </p:txBody>
      </p:sp>
      <p:sp>
        <p:nvSpPr>
          <p:cNvPr id="42" name="Text R6cat"/>
          <p:cNvSpPr/>
          <p:nvPr/>
        </p:nvSpPr>
        <p:spPr>
          <a:xfrm>
            <a:off x="742320" y="4998000"/>
            <a:ext cx="33402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</a:rPr>
              <a:t>Team — Key Person Risk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</a:rPr>
              <a:t>Jawad is the only full-time founder at seed stage</a:t>
            </a:r>
            <a:endParaRPr lang="en-US" sz="900" dirty="0"/>
          </a:p>
        </p:txBody>
      </p:sp>
      <p:sp>
        <p:nvSpPr>
          <p:cNvPr id="43" name="Text R6mit"/>
          <p:cNvSpPr/>
          <p:nvPr/>
        </p:nvSpPr>
        <p:spPr>
          <a:xfrm>
            <a:off x="4541520" y="4998000"/>
            <a:ext cx="457176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5C7E"/>
                </a:solidFill>
                <a:latin typeface="Calibri" pitchFamily="34" charset="0"/>
              </a:rPr>
              <a:t>Mitigation: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</a:rPr>
              <a:t>Key person insurance post-close. Advisory board within 6 months. Ibraheem transitions full-time at 500K SAR ARR or Month 18, providing execution redundancy.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6858000" y="-457200"/>
            <a:ext cx="3657600" cy="3657600"/>
          </a:xfrm>
          <a:prstGeom prst="rect">
            <a:avLst/>
          </a:prstGeom>
          <a:solidFill>
            <a:srgbClr val="1E3A5F">
              <a:alpha val="20000"/>
            </a:srgbClr>
          </a:solidFill>
          <a:ln w="12700">
            <a:solidFill>
              <a:srgbClr val="1E3A5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ARCVARA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That Spans Everything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572000" cy="36576"/>
          </a:xfrm>
          <a:prstGeom prst="rect">
            <a:avLst/>
          </a:prstGeom>
          <a:solidFill>
            <a:srgbClr val="1A7FAD"/>
          </a:solidFill>
          <a:ln w="12700">
            <a:solidFill>
              <a:srgbClr val="1A7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Jawad Al Marhoon  &amp;  Ibraheem Maher Almarhoon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6400800" cy="48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Jawad Al Marhoon  |  jawad.a.almarhoon@gmail.com  |  +966-50-386-8474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Ibraheem Almarhoon  |  ibraheem.marhoon@gmail.com  |  +966557927246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2181</Words>
  <Application>Microsoft Office PowerPoint</Application>
  <PresentationFormat>On-screen Show (16:9)</PresentationFormat>
  <Paragraphs>425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Arcvara — Investor Pitch Deck</dc:title>
  <dc:subject>PptxGenJS Presentation</dc:subject>
  <dc:creator>Jawad Al Marhoon</dc:creator>
  <cp:lastModifiedBy>Jawad Al Marhoon</cp:lastModifiedBy>
  <cp:revision>3</cp:revision>
  <dcterms:created xsi:type="dcterms:W3CDTF">2026-05-27T08:18:06Z</dcterms:created>
  <dcterms:modified xsi:type="dcterms:W3CDTF">2026-06-12T12:53:36Z</dcterms:modified>
</cp:coreProperties>
</file>